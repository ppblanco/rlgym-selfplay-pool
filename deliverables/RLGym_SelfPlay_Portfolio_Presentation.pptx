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/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>
          <a:xfrm>
            <a:off x="685800" y="342900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QUÉ DECIR: Os voy a contar un experimento que no salió como esperaba, y por qué eso es exactamente lo que quería enseñaros.</a:t>
            </a:r>
          </a:p>
          <a:p>
            <a:r>
              <a:rPr lang="es-ES" sz="1200" dirty="0"/>
              <a:t>ENFATIZAR: que la pregunta es de método, no de videojuegos.</a:t>
            </a:r>
          </a:p>
          <a:p>
            <a:r>
              <a:rPr lang="es-ES" sz="1200" dirty="0"/>
              <a:t>NO AFIRMAR: nada sobre el resultado todavía. No adelantes el final.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QUÉ DECIR: es el problema clásico del autojuego. La analogía de piedra-papel-tijera funciona con cualquier audiencia.</a:t>
            </a:r>
          </a:p>
          <a:p>
            <a:r>
              <a:rPr lang="es-ES" sz="1200" dirty="0"/>
              <a:t>ENFATIZAR: el ciclo, no la teoría.</a:t>
            </a:r>
          </a:p>
          <a:p>
            <a:r>
              <a:rPr lang="es-ES" sz="1200" dirty="0"/>
              <a:t>NO AFIRMAR: no entres en PPO ni en GAE. No hace falta.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QUÉ DECIR: guardamos instantáneas de la política cada K muestras y en cada episodio nos enfrentamos a una del pasado elegida al azar. Control: un solo rival congelado. Tratamiento: este pool. Mismo presupuesto de aprendizaje para los dos.</a:t>
            </a:r>
          </a:p>
          <a:p>
            <a:r>
              <a:rPr lang="es-ES" sz="1200" dirty="0"/>
              <a:t>ENFATIZAR: «mismo presupuesto» es lo que hace justa la comparación.</a:t>
            </a:r>
          </a:p>
          <a:p>
            <a:r>
              <a:rPr lang="es-ES" sz="1200" dirty="0"/>
              <a:t>NO AFIRMAR: que esto sea una técnica nueva. No lo es: es fictitious self-play, bien conocido a gran escala.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QUÉ DECIR: dilo en voz alta — el bot de Rocket League no es mío. El entorno, PPO y las recompensas vienen de un proyecto MIT. Lo mío es la capa experimental: 5.401 líneas, cero archivos heredados modificados.</a:t>
            </a:r>
          </a:p>
          <a:p>
            <a:r>
              <a:rPr lang="es-ES" sz="1200" dirty="0"/>
              <a:t>ENFATIZAR: la separación de autoría. Se agradece y da credibilidad al resto.</a:t>
            </a:r>
          </a:p>
          <a:p>
            <a:r>
              <a:rPr lang="es-ES" sz="1200" dirty="0"/>
              <a:t>NO AFIRMAR: nunca «creé un bot de Rocket League».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QUÉ DECIR: solo cambia una cosa entre los dos brazos, la retención. Todo lo demás es idéntico. Y el criterio de decisión se escribió y se congeló con un hash antes de ver un solo dato: los scripts se niegan a ejecutarse si el archivo cambia.</a:t>
            </a:r>
          </a:p>
          <a:p>
            <a:r>
              <a:rPr lang="es-ES" sz="1200" dirty="0"/>
              <a:t>ENFATIZAR: escribir el criterio antes es lo que impide ajustarlo después.</a:t>
            </a:r>
          </a:p>
          <a:p>
            <a:r>
              <a:rPr lang="es-ES" sz="1200" dirty="0"/>
              <a:t>NO AFIRMAR: no detalles las cuatro condiciones del criterio; se pierde el hilo.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QUÉ DECIR: A un 5,00 %, B un 4,17 %. La diferencia es de 0,83 puntos y su intervalo cruza el cero. La frase que importa, dicha despacio: cambiar la semilla movía el resultado más que cambiar el método — 2,5 puntos entre semillas frente a 0,83 entre brazos.</a:t>
            </a:r>
          </a:p>
          <a:p>
            <a:r>
              <a:rPr lang="es-ES" sz="1200" dirty="0"/>
              <a:t>ENFATIZAR: el intervalo cruzando el cero. Deja tres segundos de silencio.</a:t>
            </a:r>
          </a:p>
          <a:p>
            <a:r>
              <a:rPr lang="es-ES" sz="1200" dirty="0"/>
              <a:t>NO AFIRMAR: que A ganó. No ganó nadie: la diferencia es indistinguible de cero.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QUÉ DECIR: tres medidas, no excusas. Efecto suelo, política que casi no se mueve, e instantáneas casi idénticas entre sí.</a:t>
            </a:r>
          </a:p>
          <a:p>
            <a:r>
              <a:rPr lang="es-ES" sz="1200" dirty="0"/>
              <a:t>ENFATIZAR: la tercera. No es solo falta de potencia estadística: la intervención que medía era muy débil. Es el hallazgo incómodo.</a:t>
            </a:r>
          </a:p>
          <a:p>
            <a:r>
              <a:rPr lang="es-ES" sz="1200" dirty="0"/>
              <a:t>NO AFIRMAR: que con más partidas se habría resuelto. No es un problema de tamaño muestral solamente.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QUÉ DECIR: rediseñé el experimento y, antes de ejecutarlo, puse una puerta con umbrales escritos de antemano. Dos de cuatro fallaron, así que no ejecuté las diez corridas: unas doce horas de cómputo ahorradas.</a:t>
            </a:r>
          </a:p>
          <a:p>
            <a:r>
              <a:rPr lang="es-ES" sz="1200" dirty="0"/>
              <a:t>ENFATIZAR: cuenta la tentación en voz alta. Lo medido era 2,0× y el umbral 3×. Bajarlo a 2× habría sido elegir el listón después de ver el dato. Menciona también el error propio: extrapolé la deriva en línea recta y crece como raíz cuadrada.</a:t>
            </a:r>
          </a:p>
          <a:p>
            <a:r>
              <a:rPr lang="es-ES" sz="1200" dirty="0"/>
              <a:t>NO AFIRMAR: que fue un fallo, un bug o un problema de software. No lo fue: es el sistema funcionando.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QUÉ DECIR: al calibrar vi que entrenar más empeoraba el juego frente al punto de partida. Tres recompensas, 200 partidas por punto, y ninguna mejora de forma sostenida.</a:t>
            </a:r>
          </a:p>
          <a:p>
            <a:r>
              <a:rPr lang="es-ES" sz="1200" dirty="0"/>
              <a:t>ENFATIZAR: si entrenar más empeora, comparar dos brazos es comparar dos formas de empeorar. Eso invalida la premisa del experimento anterior.</a:t>
            </a:r>
          </a:p>
          <a:p>
            <a:r>
              <a:rPr lang="es-ES" sz="1200" dirty="0"/>
              <a:t>NO AFIRMAR: una causa. No la hay, y decirlo es parte del mensaje.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QUÉ DECIR: mi hipótesis era que el shaping denso ahogaba al objetivo, porque se cobra cada paso y el gol una sola vez. Predicción: reducirlo debería ayudar. Resultado: lo hundió, del 61,5 % al 2,0 %.</a:t>
            </a:r>
          </a:p>
          <a:p>
            <a:r>
              <a:rPr lang="es-ES" sz="1200" dirty="0"/>
              <a:t>ENFATIZAR: la lección conceptual. Confundí «qué término domina la suma» con «qué término aporta señal aprovechable». Sin moldeado, los goles son tan raros que casi ningún paso informa.</a:t>
            </a:r>
          </a:p>
          <a:p>
            <a:r>
              <a:rPr lang="es-ES" sz="1200" dirty="0"/>
              <a:t>NO AFIRMAR: una explicación alternativa. Decir «no lo sé» es el mensaje de esta slide.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QUÉ DECIR: lo que se generaliza de este proyecto no son los pesos, es el procedimiento.</a:t>
            </a:r>
          </a:p>
          <a:p>
            <a:r>
              <a:rPr lang="es-ES" sz="1200" dirty="0"/>
              <a:t>ENFATIZAR: los dos números de abajo. Convencen más que cualquier adjetivo, porque demuestran que respeté mis propios umbrales cuando el resultado incomodaba.</a:t>
            </a:r>
          </a:p>
          <a:p>
            <a:r>
              <a:rPr lang="es-ES" sz="1200" dirty="0"/>
              <a:t>NO AFIRMAR: «experto en machine learning», «state of the art». Nada de eso.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otas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dirty="0"/>
              <a:t>QUÉ DECIR: no construí un bot mejor, no demostré que el pool ayude, y la explicación que propuse resultó falsa. Lo que sí construí es algo que sabe decir que no.</a:t>
            </a:r>
          </a:p>
          <a:p>
            <a:r>
              <a:rPr lang="es-ES" sz="1200" dirty="0"/>
              <a:t>ENFATIZAR: cierre sugerido — los pesos de una política de Rocket League no le sirven a nadie; un procedimiento que impide engañarse a uno mismo, sí.</a:t>
            </a:r>
          </a:p>
          <a:p>
            <a:r>
              <a:rPr lang="es-ES" sz="1200" dirty="0"/>
              <a:t>NO AFIRMAR: promesas de trabajo futuro. La línea está cerrada.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g3_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g4_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g6_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g8_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g9_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g10_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1900000"/>
            <a:ext cx="10820400" cy="1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5400" b="1" dirty="0">
                <a:solidFill>
                  <a:srgbClr val="FFFFFF"/>
                </a:solidFill>
                <a:latin typeface="Calibri"/>
              </a:rPr>
              <a:t>Can self-play remember its past?</a:t>
            </a:r>
          </a:p>
        </p:txBody>
      </p:sp>
      <p:sp>
        <p:nvSpPr>
          <p:cNvPr id="3" name="t3"/>
          <p:cNvSpPr txBox="1"/>
          <p:nvPr/>
        </p:nvSpPr>
        <p:spPr>
          <a:xfrm>
            <a:off x="685800" y="3350000"/>
            <a:ext cx="10820400" cy="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800" dirty="0">
                <a:solidFill>
                  <a:srgbClr val="9CA3AF"/>
                </a:solidFill>
                <a:latin typeface="Calibri"/>
              </a:rPr>
              <a:t>Un experimento sobre opponent pools — y qué me enseñó sobre poner a prueba mis propias ideas</a:t>
            </a:r>
          </a:p>
        </p:txBody>
      </p:sp>
      <p:sp>
        <p:nvSpPr>
          <p:cNvPr id="4" name="t4"/>
          <p:cNvSpPr txBox="1"/>
          <p:nvPr/>
        </p:nvSpPr>
        <p:spPr>
          <a:xfrm>
            <a:off x="685800" y="4500000"/>
            <a:ext cx="10820400" cy="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600" b="1" dirty="0">
                <a:solidFill>
                  <a:srgbClr val="FFFFFF"/>
                </a:solidFill>
                <a:latin typeface="Calibri"/>
              </a:rPr>
              <a:t>Pedro Pérez Blanco</a:t>
            </a:r>
          </a:p>
        </p:txBody>
      </p:sp>
      <p:sp>
        <p:nvSpPr>
          <p:cNvPr id="5" name="t5"/>
          <p:cNvSpPr txBox="1"/>
          <p:nvPr/>
        </p:nvSpPr>
        <p:spPr>
          <a:xfrm>
            <a:off x="685800" y="4950000"/>
            <a:ext cx="10820400" cy="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200" dirty="0">
                <a:solidFill>
                  <a:srgbClr val="9CA3AF"/>
                </a:solidFill>
                <a:latin typeface="Calibri"/>
              </a:rPr>
              <a:t>Based on moanv2/rlgym (MIT) — el bot original no es obra mía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600000"/>
            <a:ext cx="10820400" cy="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4000" b="1" dirty="0">
                <a:solidFill>
                  <a:srgbClr val="111827"/>
                </a:solidFill>
                <a:latin typeface="Calibri"/>
              </a:rPr>
              <a:t>Self-play can forget</a:t>
            </a:r>
          </a:p>
        </p:txBody>
      </p:sp>
      <p:sp>
        <p:nvSpPr>
          <p:cNvPr id="3" name="t3"/>
          <p:cNvSpPr txBox="1"/>
          <p:nvPr/>
        </p:nvSpPr>
        <p:spPr>
          <a:xfrm>
            <a:off x="685800" y="1500000"/>
            <a:ext cx="10820400" cy="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2000" dirty="0">
                <a:solidFill>
                  <a:srgbClr val="6B7280"/>
                </a:solidFill>
                <a:latin typeface="Calibri"/>
              </a:rPr>
              <a:t>El agente entrena contra su yo más reciente… y solo contra él.</a:t>
            </a:r>
          </a:p>
        </p:txBody>
      </p:sp>
      <p:sp>
        <p:nvSpPr>
          <p:cNvPr id="4" name="r4"/>
          <p:cNvSpPr/>
          <p:nvPr/>
        </p:nvSpPr>
        <p:spPr>
          <a:xfrm>
            <a:off x="785800" y="2500000"/>
            <a:ext cx="3306800" cy="150000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5" name="t5"/>
          <p:cNvSpPr txBox="1"/>
          <p:nvPr/>
        </p:nvSpPr>
        <p:spPr>
          <a:xfrm>
            <a:off x="985800" y="2800000"/>
            <a:ext cx="2906800" cy="10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700" b="1" dirty="0">
                <a:solidFill>
                  <a:srgbClr val="2563EB"/>
                </a:solidFill>
                <a:latin typeface="Calibri"/>
              </a:rPr>
              <a:t>Aprende a batir</a:t>
            </a:r>
          </a:p>
          <a:p>
            <a:pPr algn="ctr">
              <a:lnSpc>
                <a:spcPct val="100000"/>
              </a:lnSpc>
            </a:pPr>
            <a:r>
              <a:rPr lang="es-ES" sz="1700" b="1" dirty="0">
                <a:solidFill>
                  <a:srgbClr val="2563EB"/>
                </a:solidFill>
                <a:latin typeface="Calibri"/>
              </a:rPr>
              <a:t>la estrategia de ayer</a:t>
            </a:r>
          </a:p>
        </p:txBody>
      </p:sp>
      <p:sp>
        <p:nvSpPr>
          <p:cNvPr id="6" name="r6"/>
          <p:cNvSpPr/>
          <p:nvPr/>
        </p:nvSpPr>
        <p:spPr>
          <a:xfrm>
            <a:off x="4392600" y="2500000"/>
            <a:ext cx="3306800" cy="150000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6B7280"/>
            </a:solidFill>
          </a:ln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4592600" y="2800000"/>
            <a:ext cx="2906800" cy="10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700" b="1" dirty="0">
                <a:solidFill>
                  <a:srgbClr val="6B7280"/>
                </a:solidFill>
                <a:latin typeface="Calibri"/>
              </a:rPr>
              <a:t>Olvida cómo defenderse</a:t>
            </a:r>
          </a:p>
          <a:p>
            <a:pPr algn="ctr">
              <a:lnSpc>
                <a:spcPct val="100000"/>
              </a:lnSpc>
            </a:pPr>
            <a:r>
              <a:rPr lang="es-ES" sz="1700" b="1" dirty="0">
                <a:solidFill>
                  <a:srgbClr val="6B7280"/>
                </a:solidFill>
                <a:latin typeface="Calibri"/>
              </a:rPr>
              <a:t>de la de anteayer</a:t>
            </a:r>
          </a:p>
        </p:txBody>
      </p:sp>
      <p:sp>
        <p:nvSpPr>
          <p:cNvPr id="8" name="r8"/>
          <p:cNvSpPr/>
          <p:nvPr/>
        </p:nvSpPr>
        <p:spPr>
          <a:xfrm>
            <a:off x="7999400" y="2500000"/>
            <a:ext cx="3306800" cy="150000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8199400" y="2800000"/>
            <a:ext cx="2906800" cy="10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700" b="1" dirty="0">
                <a:solidFill>
                  <a:srgbClr val="DC2626"/>
                </a:solidFill>
                <a:latin typeface="Calibri"/>
              </a:rPr>
              <a:t>Vuelve a una versión</a:t>
            </a:r>
          </a:p>
          <a:p>
            <a:pPr algn="ctr">
              <a:lnSpc>
                <a:spcPct val="100000"/>
              </a:lnSpc>
            </a:pPr>
            <a:r>
              <a:rPr lang="es-ES" sz="1700" b="1" dirty="0">
                <a:solidFill>
                  <a:srgbClr val="DC2626"/>
                </a:solidFill>
                <a:latin typeface="Calibri"/>
              </a:rPr>
              <a:t>de la que ya había escapado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685800" y="4400000"/>
            <a:ext cx="108204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2200" b="1" dirty="0">
                <a:solidFill>
                  <a:srgbClr val="111827"/>
                </a:solidFill>
                <a:latin typeface="Calibri"/>
              </a:rPr>
              <a:t>Mejorar contra el rival de hoy no significa mejorar en general.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685800" y="6338000"/>
            <a:ext cx="10820400" cy="34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000" dirty="0">
                <a:solidFill>
                  <a:srgbClr val="6B7280"/>
                </a:solidFill>
                <a:latin typeface="Calibri"/>
              </a:rPr>
              <a:t>Based on moanv2/rlgym (MIT) · Pedro Pérez Blanco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400000"/>
            <a:ext cx="108204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4000" b="1" dirty="0">
                <a:solidFill>
                  <a:srgbClr val="111827"/>
                </a:solidFill>
                <a:latin typeface="Calibri"/>
              </a:rPr>
              <a:t>Give it a memory</a:t>
            </a:r>
          </a:p>
        </p:txBody>
      </p:sp>
      <p:pic>
        <p:nvPicPr>
          <p:cNvPr id="3" name="img1"/>
          <p:cNvPicPr/>
          <p:nvPr/>
        </p:nvPicPr>
        <p:blipFill>
          <a:blip r:embed="rId3"/>
          <a:stretch>
            <a:fillRect/>
          </a:stretch>
        </p:blipFill>
        <p:spPr>
          <a:xfrm>
            <a:off x="1573333" y="1150000"/>
            <a:ext cx="9045333" cy="50880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685800" y="6338000"/>
            <a:ext cx="10820400" cy="34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000" dirty="0">
                <a:solidFill>
                  <a:srgbClr val="6B7280"/>
                </a:solidFill>
                <a:latin typeface="Calibri"/>
              </a:rPr>
              <a:t>Based on moanv2/rlgym (MIT) · Pedro Pérez Blanco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350000"/>
            <a:ext cx="108204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4000" b="1" dirty="0">
                <a:solidFill>
                  <a:srgbClr val="111827"/>
                </a:solidFill>
                <a:latin typeface="Calibri"/>
              </a:rPr>
              <a:t>What I built on top</a:t>
            </a:r>
          </a:p>
        </p:txBody>
      </p:sp>
      <p:pic>
        <p:nvPicPr>
          <p:cNvPr id="3" name="img1"/>
          <p:cNvPicPr/>
          <p:nvPr/>
        </p:nvPicPr>
        <p:blipFill>
          <a:blip r:embed="rId3"/>
          <a:stretch>
            <a:fillRect/>
          </a:stretch>
        </p:blipFill>
        <p:spPr>
          <a:xfrm>
            <a:off x="1820082" y="1000000"/>
            <a:ext cx="8551836" cy="52380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685800" y="6338000"/>
            <a:ext cx="10820400" cy="34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000" dirty="0">
                <a:solidFill>
                  <a:srgbClr val="6B7280"/>
                </a:solidFill>
                <a:latin typeface="Calibri"/>
              </a:rPr>
              <a:t>Based on moanv2/rlgym (MIT) · Pedro Pérez Blanco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500000"/>
            <a:ext cx="108204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3600" b="1" dirty="0">
                <a:solidFill>
                  <a:srgbClr val="111827"/>
                </a:solidFill>
                <a:latin typeface="Calibri"/>
              </a:rPr>
              <a:t>The experiment, frozen before running</a:t>
            </a:r>
          </a:p>
        </p:txBody>
      </p:sp>
      <p:sp>
        <p:nvSpPr>
          <p:cNvPr id="3" name="r3"/>
          <p:cNvSpPr/>
          <p:nvPr/>
        </p:nvSpPr>
        <p:spPr>
          <a:xfrm>
            <a:off x="685800" y="1500000"/>
            <a:ext cx="5210200" cy="260000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6B7280"/>
            </a:solidFill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985800" y="1750000"/>
            <a:ext cx="4610200" cy="22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800" dirty="0">
                <a:solidFill>
                  <a:srgbClr val="6B7280"/>
                </a:solidFill>
                <a:latin typeface="Calibri"/>
              </a:rPr>
              <a:t>BRAZO A · control</a:t>
            </a:r>
          </a:p>
          <a:p>
            <a:pPr algn="l">
              <a:lnSpc>
                <a:spcPct val="100000"/>
              </a:lnSpc>
            </a:pPr>
            <a:r>
              <a:rPr lang="es-ES" sz="1800" dirty="0">
                <a:solidFill>
                  <a:srgbClr val="6B7280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lang="es-ES" sz="1800" dirty="0">
                <a:solidFill>
                  <a:srgbClr val="6B7280"/>
                </a:solidFill>
                <a:latin typeface="Calibri"/>
              </a:rPr>
              <a:t>Un rival congelado</a:t>
            </a:r>
          </a:p>
          <a:p>
            <a:pPr algn="l">
              <a:lnSpc>
                <a:spcPct val="100000"/>
              </a:lnSpc>
            </a:pPr>
            <a:r>
              <a:rPr lang="es-ES" sz="1800" dirty="0">
                <a:solidFill>
                  <a:srgbClr val="6B7280"/>
                </a:solidFill>
                <a:latin typeface="Calibri"/>
              </a:rPr>
              <a:t>Retención 1</a:t>
            </a:r>
          </a:p>
          <a:p>
            <a:pPr algn="l">
              <a:lnSpc>
                <a:spcPct val="100000"/>
              </a:lnSpc>
            </a:pPr>
            <a:r>
              <a:rPr lang="es-ES" sz="1800" dirty="0">
                <a:solidFill>
                  <a:srgbClr val="6B7280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lang="es-ES" sz="1800" dirty="0">
                <a:solidFill>
                  <a:srgbClr val="6B7280"/>
                </a:solidFill>
                <a:latin typeface="Calibri"/>
              </a:rPr>
              <a:t>504.000 muestras</a:t>
            </a:r>
          </a:p>
        </p:txBody>
      </p:sp>
      <p:sp>
        <p:nvSpPr>
          <p:cNvPr id="5" name="r5"/>
          <p:cNvSpPr/>
          <p:nvPr/>
        </p:nvSpPr>
        <p:spPr>
          <a:xfrm>
            <a:off x="6296000" y="1500000"/>
            <a:ext cx="5210200" cy="2600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6" name="t6"/>
          <p:cNvSpPr txBox="1"/>
          <p:nvPr/>
        </p:nvSpPr>
        <p:spPr>
          <a:xfrm>
            <a:off x="6596000" y="1750000"/>
            <a:ext cx="4610200" cy="22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800" dirty="0">
                <a:solidFill>
                  <a:srgbClr val="2563EB"/>
                </a:solidFill>
                <a:latin typeface="Calibri"/>
              </a:rPr>
              <a:t>BRAZO B · tratamiento</a:t>
            </a:r>
          </a:p>
          <a:p>
            <a:pPr algn="l">
              <a:lnSpc>
                <a:spcPct val="100000"/>
              </a:lnSpc>
            </a:pPr>
            <a:r>
              <a:rPr lang="es-ES" sz="1800" dirty="0">
                <a:solidFill>
                  <a:srgbClr val="2563E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lang="es-ES" sz="1800" dirty="0">
                <a:solidFill>
                  <a:srgbClr val="2563EB"/>
                </a:solidFill>
                <a:latin typeface="Calibri"/>
              </a:rPr>
              <a:t>Pool de 16 instantáneas</a:t>
            </a:r>
          </a:p>
          <a:p>
            <a:pPr algn="l">
              <a:lnSpc>
                <a:spcPct val="100000"/>
              </a:lnSpc>
            </a:pPr>
            <a:r>
              <a:rPr lang="es-ES" sz="1800" dirty="0">
                <a:solidFill>
                  <a:srgbClr val="2563EB"/>
                </a:solidFill>
                <a:latin typeface="Calibri"/>
              </a:rPr>
              <a:t>Retención 16, C0 protegido</a:t>
            </a:r>
          </a:p>
          <a:p>
            <a:pPr algn="l">
              <a:lnSpc>
                <a:spcPct val="100000"/>
              </a:lnSpc>
            </a:pPr>
            <a:r>
              <a:rPr lang="es-ES" sz="1800" dirty="0">
                <a:solidFill>
                  <a:srgbClr val="2563E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</a:pPr>
            <a:r>
              <a:rPr lang="es-ES" sz="1800" dirty="0">
                <a:solidFill>
                  <a:srgbClr val="2563EB"/>
                </a:solidFill>
                <a:latin typeface="Calibri"/>
              </a:rPr>
              <a:t>504.000 muestras</a:t>
            </a:r>
          </a:p>
        </p:txBody>
      </p:sp>
      <p:sp>
        <p:nvSpPr>
          <p:cNvPr id="7" name="t7"/>
          <p:cNvSpPr txBox="1"/>
          <p:nvPr/>
        </p:nvSpPr>
        <p:spPr>
          <a:xfrm>
            <a:off x="685800" y="4350000"/>
            <a:ext cx="10820400" cy="5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700" b="1" dirty="0">
                <a:solidFill>
                  <a:srgbClr val="111827"/>
                </a:solidFill>
                <a:latin typeface="Calibri"/>
              </a:rPr>
              <a:t>Mismo punto de partida · mismas semillas emparejadas · mismo presupuesto al dígito</a:t>
            </a:r>
          </a:p>
        </p:txBody>
      </p:sp>
      <p:sp>
        <p:nvSpPr>
          <p:cNvPr id="8" name="r8"/>
          <p:cNvSpPr/>
          <p:nvPr/>
        </p:nvSpPr>
        <p:spPr>
          <a:xfrm>
            <a:off x="685800" y="5000000"/>
            <a:ext cx="10820400" cy="620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t9"/>
          <p:cNvSpPr txBox="1"/>
          <p:nvPr/>
        </p:nvSpPr>
        <p:spPr>
          <a:xfrm>
            <a:off x="885800" y="5120000"/>
            <a:ext cx="10420400" cy="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500" b="1" dirty="0">
                <a:solidFill>
                  <a:srgbClr val="111827"/>
                </a:solidFill>
                <a:latin typeface="Calibri"/>
              </a:rPr>
              <a:t>Criterio de decisión congelado por SHA256 antes de entrenar: 8ae06382…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350000"/>
            <a:ext cx="108204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4000" b="1" dirty="0">
                <a:solidFill>
                  <a:srgbClr val="111827"/>
                </a:solidFill>
                <a:latin typeface="Calibri"/>
              </a:rPr>
              <a:t>The result</a:t>
            </a:r>
          </a:p>
        </p:txBody>
      </p:sp>
      <p:pic>
        <p:nvPicPr>
          <p:cNvPr id="3" name="img1"/>
          <p:cNvPicPr/>
          <p:nvPr/>
        </p:nvPicPr>
        <p:blipFill>
          <a:blip r:embed="rId3"/>
          <a:stretch>
            <a:fillRect/>
          </a:stretch>
        </p:blipFill>
        <p:spPr>
          <a:xfrm>
            <a:off x="1440000" y="1000000"/>
            <a:ext cx="9312000" cy="52380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685800" y="6338000"/>
            <a:ext cx="10820400" cy="34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000" dirty="0">
                <a:solidFill>
                  <a:srgbClr val="6B7280"/>
                </a:solidFill>
                <a:latin typeface="Calibri"/>
              </a:rPr>
              <a:t>Based on moanv2/rlgym (MIT) · Pedro Pérez Blanco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500000"/>
            <a:ext cx="108204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4000" b="1" dirty="0">
                <a:solidFill>
                  <a:srgbClr val="111827"/>
                </a:solidFill>
                <a:latin typeface="Calibri"/>
              </a:rPr>
              <a:t>Why it couldn't tell</a:t>
            </a:r>
          </a:p>
        </p:txBody>
      </p:sp>
      <p:sp>
        <p:nvSpPr>
          <p:cNvPr id="3" name="r3"/>
          <p:cNvSpPr/>
          <p:nvPr/>
        </p:nvSpPr>
        <p:spPr>
          <a:xfrm>
            <a:off x="785800" y="1550000"/>
            <a:ext cx="3306800" cy="250000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935800" y="1750000"/>
            <a:ext cx="3006800" cy="8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4400" b="1" dirty="0">
                <a:solidFill>
                  <a:srgbClr val="DC2626"/>
                </a:solidFill>
                <a:latin typeface="Calibri"/>
              </a:rPr>
              <a:t>5 %</a:t>
            </a:r>
          </a:p>
        </p:txBody>
      </p:sp>
      <p:sp>
        <p:nvSpPr>
          <p:cNvPr id="5" name="t5"/>
          <p:cNvSpPr txBox="1"/>
          <p:nvPr/>
        </p:nvSpPr>
        <p:spPr>
          <a:xfrm>
            <a:off x="935800" y="2650000"/>
            <a:ext cx="30068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500" b="1" dirty="0">
                <a:solidFill>
                  <a:srgbClr val="111827"/>
                </a:solidFill>
                <a:latin typeface="Calibri"/>
              </a:rPr>
              <a:t>ganaban ambos brazos</a:t>
            </a:r>
          </a:p>
        </p:txBody>
      </p:sp>
      <p:sp>
        <p:nvSpPr>
          <p:cNvPr id="6" name="t6"/>
          <p:cNvSpPr txBox="1"/>
          <p:nvPr/>
        </p:nvSpPr>
        <p:spPr>
          <a:xfrm>
            <a:off x="935800" y="3250000"/>
            <a:ext cx="3006800" cy="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300" dirty="0">
                <a:solidFill>
                  <a:srgbClr val="6B7280"/>
                </a:solidFill>
                <a:latin typeface="Calibri"/>
              </a:rPr>
              <a:t>rivales entrenados</a:t>
            </a:r>
          </a:p>
          <a:p>
            <a:pPr algn="ctr">
              <a:lnSpc>
                <a:spcPct val="100000"/>
              </a:lnSpc>
            </a:pPr>
            <a:r>
              <a:rPr lang="es-ES" sz="1300" dirty="0">
                <a:solidFill>
                  <a:srgbClr val="6B7280"/>
                </a:solidFill>
                <a:latin typeface="Calibri"/>
              </a:rPr>
              <a:t>4.000 veces más</a:t>
            </a:r>
          </a:p>
        </p:txBody>
      </p:sp>
      <p:sp>
        <p:nvSpPr>
          <p:cNvPr id="7" name="r7"/>
          <p:cNvSpPr/>
          <p:nvPr/>
        </p:nvSpPr>
        <p:spPr>
          <a:xfrm>
            <a:off x="4392600" y="1550000"/>
            <a:ext cx="3306800" cy="250000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8" name="t8"/>
          <p:cNvSpPr txBox="1"/>
          <p:nvPr/>
        </p:nvSpPr>
        <p:spPr>
          <a:xfrm>
            <a:off x="4542600" y="1750000"/>
            <a:ext cx="3006800" cy="8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4400" b="1" dirty="0">
                <a:solidFill>
                  <a:srgbClr val="F59E0B"/>
                </a:solidFill>
                <a:latin typeface="Calibri"/>
              </a:rPr>
              <a:t>1,55 %</a:t>
            </a:r>
          </a:p>
        </p:txBody>
      </p:sp>
      <p:sp>
        <p:nvSpPr>
          <p:cNvPr id="9" name="t9"/>
          <p:cNvSpPr txBox="1"/>
          <p:nvPr/>
        </p:nvSpPr>
        <p:spPr>
          <a:xfrm>
            <a:off x="4542600" y="2650000"/>
            <a:ext cx="30068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500" b="1" dirty="0">
                <a:solidFill>
                  <a:srgbClr val="111827"/>
                </a:solidFill>
                <a:latin typeface="Calibri"/>
              </a:rPr>
              <a:t>se movió la política</a:t>
            </a:r>
          </a:p>
        </p:txBody>
      </p:sp>
      <p:sp>
        <p:nvSpPr>
          <p:cNvPr id="10" name="t10"/>
          <p:cNvSpPr txBox="1"/>
          <p:nvPr/>
        </p:nvSpPr>
        <p:spPr>
          <a:xfrm>
            <a:off x="4542600" y="3250000"/>
            <a:ext cx="3006800" cy="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300" dirty="0">
                <a:solidFill>
                  <a:srgbClr val="6B7280"/>
                </a:solidFill>
                <a:latin typeface="Calibri"/>
              </a:rPr>
              <a:t>en 504.000 muestras</a:t>
            </a:r>
          </a:p>
        </p:txBody>
      </p:sp>
      <p:sp>
        <p:nvSpPr>
          <p:cNvPr id="11" name="r11"/>
          <p:cNvSpPr/>
          <p:nvPr/>
        </p:nvSpPr>
        <p:spPr>
          <a:xfrm>
            <a:off x="7999400" y="1550000"/>
            <a:ext cx="3306800" cy="2500000"/>
          </a:xfrm>
          <a:prstGeom prst="roundRect">
            <a:avLst/>
          </a:prstGeom>
          <a:solidFill>
            <a:srgbClr val="F9FAFB"/>
          </a:solidFill>
          <a:ln w="19050">
            <a:solidFill>
              <a:srgbClr val="2563EB"/>
            </a:solidFill>
          </a:ln>
        </p:spPr>
        <p:txBody>
          <a:bodyPr/>
          <a:lstStyle/>
          <a:p/>
        </p:txBody>
      </p:sp>
      <p:sp>
        <p:nvSpPr>
          <p:cNvPr id="12" name="t12"/>
          <p:cNvSpPr txBox="1"/>
          <p:nvPr/>
        </p:nvSpPr>
        <p:spPr>
          <a:xfrm>
            <a:off x="8149400" y="1750000"/>
            <a:ext cx="3006800" cy="8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4400" b="1" dirty="0">
                <a:solidFill>
                  <a:srgbClr val="2563EB"/>
                </a:solidFill>
                <a:latin typeface="Calibri"/>
              </a:rPr>
              <a:t>0,0074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8149400" y="2650000"/>
            <a:ext cx="30068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500" b="1" dirty="0">
                <a:solidFill>
                  <a:srgbClr val="111827"/>
                </a:solidFill>
                <a:latin typeface="Calibri"/>
              </a:rPr>
              <a:t>distancia entre</a:t>
            </a:r>
          </a:p>
          <a:p>
            <a:pPr algn="ctr">
              <a:lnSpc>
                <a:spcPct val="100000"/>
              </a:lnSpc>
            </a:pPr>
            <a:r>
              <a:rPr lang="es-ES" sz="1500" b="1" dirty="0">
                <a:solidFill>
                  <a:srgbClr val="111827"/>
                </a:solidFill>
                <a:latin typeface="Calibri"/>
              </a:rPr>
              <a:t>«rivales distintos»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8149400" y="3250000"/>
            <a:ext cx="3006800" cy="7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300" dirty="0">
                <a:solidFill>
                  <a:srgbClr val="6B7280"/>
                </a:solidFill>
                <a:latin typeface="Calibri"/>
              </a:rPr>
              <a:t>todas dentro</a:t>
            </a:r>
          </a:p>
          <a:p>
            <a:pPr algn="ctr">
              <a:lnSpc>
                <a:spcPct val="100000"/>
              </a:lnSpc>
            </a:pPr>
            <a:r>
              <a:rPr lang="es-ES" sz="1300" dirty="0">
                <a:solidFill>
                  <a:srgbClr val="6B7280"/>
                </a:solidFill>
                <a:latin typeface="Calibri"/>
              </a:rPr>
              <a:t>del 1,5 %</a:t>
            </a:r>
          </a:p>
        </p:txBody>
      </p:sp>
      <p:sp>
        <p:nvSpPr>
          <p:cNvPr id="15" name="r15"/>
          <p:cNvSpPr/>
          <p:nvPr/>
        </p:nvSpPr>
        <p:spPr>
          <a:xfrm>
            <a:off x="685800" y="4350000"/>
            <a:ext cx="10820400" cy="8500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985800" y="4520000"/>
            <a:ext cx="10220400" cy="5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2400" b="1" dirty="0">
                <a:solidFill>
                  <a:srgbClr val="DC2626"/>
                </a:solidFill>
                <a:latin typeface="Calibri"/>
              </a:rPr>
              <a:t>El tratamiento apenas se diferenciaba del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350000"/>
            <a:ext cx="108204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3600" b="1" dirty="0">
                <a:solidFill>
                  <a:srgbClr val="111827"/>
                </a:solidFill>
                <a:latin typeface="Calibri"/>
              </a:rPr>
              <a:t>H2: stopped before full training</a:t>
            </a:r>
          </a:p>
        </p:txBody>
      </p:sp>
      <p:pic>
        <p:nvPicPr>
          <p:cNvPr id="3" name="img1"/>
          <p:cNvPicPr/>
          <p:nvPr/>
        </p:nvPicPr>
        <p:blipFill>
          <a:blip r:embed="rId3"/>
          <a:stretch>
            <a:fillRect/>
          </a:stretch>
        </p:blipFill>
        <p:spPr>
          <a:xfrm>
            <a:off x="1395556" y="950000"/>
            <a:ext cx="9400888" cy="52880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685800" y="6338000"/>
            <a:ext cx="10820400" cy="34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000" dirty="0">
                <a:solidFill>
                  <a:srgbClr val="6B7280"/>
                </a:solidFill>
                <a:latin typeface="Calibri"/>
              </a:rPr>
              <a:t>Based on moanv2/rlgym (MIT) · Pedro Pérez Blanco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350000"/>
            <a:ext cx="108204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3600" b="1" dirty="0">
                <a:solidFill>
                  <a:srgbClr val="111827"/>
                </a:solidFill>
                <a:latin typeface="Calibri"/>
              </a:rPr>
              <a:t>Then something worse showed up</a:t>
            </a:r>
          </a:p>
        </p:txBody>
      </p:sp>
      <p:pic>
        <p:nvPicPr>
          <p:cNvPr id="3" name="img1"/>
          <p:cNvPicPr/>
          <p:nvPr/>
        </p:nvPicPr>
        <p:blipFill>
          <a:blip r:embed="rId3"/>
          <a:stretch>
            <a:fillRect/>
          </a:stretch>
        </p:blipFill>
        <p:spPr>
          <a:xfrm>
            <a:off x="1440000" y="1000000"/>
            <a:ext cx="9312000" cy="52380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685800" y="6338000"/>
            <a:ext cx="10820400" cy="34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000" dirty="0">
                <a:solidFill>
                  <a:srgbClr val="6B7280"/>
                </a:solidFill>
                <a:latin typeface="Calibri"/>
              </a:rPr>
              <a:t>Based on moanv2/rlgym (MIT) · Pedro Pérez Blanco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350000"/>
            <a:ext cx="108204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3600" b="1" dirty="0">
                <a:solidFill>
                  <a:srgbClr val="111827"/>
                </a:solidFill>
                <a:latin typeface="Calibri"/>
              </a:rPr>
              <a:t>I had an explanation. It was wrong.</a:t>
            </a:r>
          </a:p>
        </p:txBody>
      </p:sp>
      <p:pic>
        <p:nvPicPr>
          <p:cNvPr id="3" name="img1"/>
          <p:cNvPicPr/>
          <p:nvPr/>
        </p:nvPicPr>
        <p:blipFill>
          <a:blip r:embed="rId3"/>
          <a:stretch>
            <a:fillRect/>
          </a:stretch>
        </p:blipFill>
        <p:spPr>
          <a:xfrm>
            <a:off x="1440000" y="1000000"/>
            <a:ext cx="9312000" cy="5238000"/>
          </a:xfrm>
          <a:prstGeom prst="rect">
            <a:avLst/>
          </a:prstGeom>
        </p:spPr>
      </p:pic>
      <p:sp>
        <p:nvSpPr>
          <p:cNvPr id="4" name="t4"/>
          <p:cNvSpPr txBox="1"/>
          <p:nvPr/>
        </p:nvSpPr>
        <p:spPr>
          <a:xfrm>
            <a:off x="685800" y="6338000"/>
            <a:ext cx="10820400" cy="34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000" dirty="0">
                <a:solidFill>
                  <a:srgbClr val="6B7280"/>
                </a:solidFill>
                <a:latin typeface="Calibri"/>
              </a:rPr>
              <a:t>Based on moanv2/rlgym (MIT) · Pedro Pérez Blanco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500000"/>
            <a:ext cx="10820400" cy="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3600" b="1" dirty="0">
                <a:solidFill>
                  <a:srgbClr val="111827"/>
                </a:solidFill>
                <a:latin typeface="Calibri"/>
              </a:rPr>
              <a:t>What this actually demonstrates</a:t>
            </a:r>
          </a:p>
        </p:txBody>
      </p:sp>
      <p:sp>
        <p:nvSpPr>
          <p:cNvPr id="3" name="r3"/>
          <p:cNvSpPr/>
          <p:nvPr/>
        </p:nvSpPr>
        <p:spPr>
          <a:xfrm>
            <a:off x="685800" y="1500000"/>
            <a:ext cx="2600000" cy="500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835800" y="1590000"/>
            <a:ext cx="2400000" cy="3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600" b="1" dirty="0">
                <a:solidFill>
                  <a:srgbClr val="2563EB"/>
                </a:solidFill>
                <a:latin typeface="Calibri"/>
              </a:rPr>
              <a:t>Engineering</a:t>
            </a:r>
          </a:p>
        </p:txBody>
      </p:sp>
      <p:sp>
        <p:nvSpPr>
          <p:cNvPr id="5" name="t5"/>
          <p:cNvSpPr txBox="1"/>
          <p:nvPr/>
        </p:nvSpPr>
        <p:spPr>
          <a:xfrm>
            <a:off x="3485800" y="1590000"/>
            <a:ext cx="8020400" cy="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500" dirty="0">
                <a:solidFill>
                  <a:srgbClr val="111827"/>
                </a:solidFill>
                <a:latin typeface="Calibri"/>
              </a:rPr>
              <a:t>aislamiento de procesos, recuperación de interbloqueos, integridad por hashes</a:t>
            </a:r>
          </a:p>
        </p:txBody>
      </p:sp>
      <p:sp>
        <p:nvSpPr>
          <p:cNvPr id="6" name="r6"/>
          <p:cNvSpPr/>
          <p:nvPr/>
        </p:nvSpPr>
        <p:spPr>
          <a:xfrm>
            <a:off x="685800" y="2120000"/>
            <a:ext cx="2600000" cy="500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t7"/>
          <p:cNvSpPr txBox="1"/>
          <p:nvPr/>
        </p:nvSpPr>
        <p:spPr>
          <a:xfrm>
            <a:off x="835800" y="2210000"/>
            <a:ext cx="2400000" cy="3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600" b="1" dirty="0">
                <a:solidFill>
                  <a:srgbClr val="2563EB"/>
                </a:solidFill>
                <a:latin typeface="Calibri"/>
              </a:rPr>
              <a:t>Experiment design</a:t>
            </a:r>
          </a:p>
        </p:txBody>
      </p:sp>
      <p:sp>
        <p:nvSpPr>
          <p:cNvPr id="8" name="t8"/>
          <p:cNvSpPr txBox="1"/>
          <p:nvPr/>
        </p:nvSpPr>
        <p:spPr>
          <a:xfrm>
            <a:off x="3485800" y="2210000"/>
            <a:ext cx="8020400" cy="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500" dirty="0">
                <a:solidFill>
                  <a:srgbClr val="111827"/>
                </a:solidFill>
                <a:latin typeface="Calibri"/>
              </a:rPr>
              <a:t>criterios preinscritos, brazos emparejados, puertas de decisión</a:t>
            </a:r>
          </a:p>
        </p:txBody>
      </p:sp>
      <p:sp>
        <p:nvSpPr>
          <p:cNvPr id="9" name="r9"/>
          <p:cNvSpPr/>
          <p:nvPr/>
        </p:nvSpPr>
        <p:spPr>
          <a:xfrm>
            <a:off x="685800" y="2740000"/>
            <a:ext cx="2600000" cy="500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10"/>
          <p:cNvSpPr txBox="1"/>
          <p:nvPr/>
        </p:nvSpPr>
        <p:spPr>
          <a:xfrm>
            <a:off x="835800" y="2830000"/>
            <a:ext cx="2400000" cy="3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600" b="1" dirty="0">
                <a:solidFill>
                  <a:srgbClr val="2563EB"/>
                </a:solidFill>
                <a:latin typeface="Calibri"/>
              </a:rPr>
              <a:t>Reproducibility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3485800" y="2830000"/>
            <a:ext cx="8020400" cy="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500" dirty="0">
                <a:solidFill>
                  <a:srgbClr val="111827"/>
                </a:solidFill>
                <a:latin typeface="Calibri"/>
              </a:rPr>
              <a:t>protocolos con SHA256, semillas fijadas, evaluación sin duplicados</a:t>
            </a:r>
          </a:p>
        </p:txBody>
      </p:sp>
      <p:sp>
        <p:nvSpPr>
          <p:cNvPr id="12" name="r12"/>
          <p:cNvSpPr/>
          <p:nvPr/>
        </p:nvSpPr>
        <p:spPr>
          <a:xfrm>
            <a:off x="685800" y="3360000"/>
            <a:ext cx="2600000" cy="500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13"/>
          <p:cNvSpPr txBox="1"/>
          <p:nvPr/>
        </p:nvSpPr>
        <p:spPr>
          <a:xfrm>
            <a:off x="835800" y="3450000"/>
            <a:ext cx="2400000" cy="3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600" b="1" dirty="0">
                <a:solidFill>
                  <a:srgbClr val="2563EB"/>
                </a:solidFill>
                <a:latin typeface="Calibri"/>
              </a:rPr>
              <a:t>Statistics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3485800" y="3450000"/>
            <a:ext cx="8020400" cy="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500" dirty="0">
                <a:solidFill>
                  <a:srgbClr val="111827"/>
                </a:solidFill>
                <a:latin typeface="Calibri"/>
              </a:rPr>
              <a:t>bootstrap, intervalos de Wilson, y detectar que mi unidad experimental era incorrecta</a:t>
            </a:r>
          </a:p>
        </p:txBody>
      </p:sp>
      <p:sp>
        <p:nvSpPr>
          <p:cNvPr id="15" name="r15"/>
          <p:cNvSpPr/>
          <p:nvPr/>
        </p:nvSpPr>
        <p:spPr>
          <a:xfrm>
            <a:off x="685800" y="3980000"/>
            <a:ext cx="2600000" cy="5000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16"/>
          <p:cNvSpPr txBox="1"/>
          <p:nvPr/>
        </p:nvSpPr>
        <p:spPr>
          <a:xfrm>
            <a:off x="835800" y="4070000"/>
            <a:ext cx="2400000" cy="3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600" b="1" dirty="0">
                <a:solidFill>
                  <a:srgbClr val="2563EB"/>
                </a:solidFill>
                <a:latin typeface="Calibri"/>
              </a:rPr>
              <a:t>Falsification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3485800" y="4070000"/>
            <a:ext cx="8020400" cy="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es-ES" sz="1500" dirty="0">
                <a:solidFill>
                  <a:srgbClr val="111827"/>
                </a:solidFill>
                <a:latin typeface="Calibri"/>
              </a:rPr>
              <a:t>formular una hipótesis propia y aceptar que los datos la tumben</a:t>
            </a:r>
          </a:p>
        </p:txBody>
      </p:sp>
      <p:sp>
        <p:nvSpPr>
          <p:cNvPr id="18" name="r18"/>
          <p:cNvSpPr/>
          <p:nvPr/>
        </p:nvSpPr>
        <p:spPr>
          <a:xfrm>
            <a:off x="685800" y="4700000"/>
            <a:ext cx="10820400" cy="7000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txBody>
          <a:bodyPr/>
          <a:lstStyle/>
          <a:p/>
        </p:txBody>
      </p:sp>
      <p:sp>
        <p:nvSpPr>
          <p:cNvPr id="19" name="t19"/>
          <p:cNvSpPr txBox="1"/>
          <p:nvPr/>
        </p:nvSpPr>
        <p:spPr>
          <a:xfrm>
            <a:off x="935800" y="4850000"/>
            <a:ext cx="10320400" cy="4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600" b="1" dirty="0">
                <a:solidFill>
                  <a:srgbClr val="16A34A"/>
                </a:solidFill>
                <a:latin typeface="Calibri"/>
              </a:rPr>
              <a:t>Descarté una configuración por 0,5 pp · detuve un experimento por 0,0155 de deriva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2"/>
          <p:cNvSpPr txBox="1"/>
          <p:nvPr/>
        </p:nvSpPr>
        <p:spPr>
          <a:xfrm>
            <a:off x="685800" y="1300000"/>
            <a:ext cx="10820400" cy="16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3600" b="1" dirty="0">
                <a:solidFill>
                  <a:srgbClr val="FFFFFF"/>
                </a:solidFill>
                <a:latin typeface="Calibri"/>
              </a:rPr>
              <a:t>No proof that opponent pools help —</a:t>
            </a:r>
          </a:p>
          <a:p>
            <a:pPr algn="ctr">
              <a:lnSpc>
                <a:spcPct val="100000"/>
              </a:lnSpc>
            </a:pPr>
            <a:r>
              <a:rPr lang="es-ES" sz="3600" b="1" dirty="0">
                <a:solidFill>
                  <a:srgbClr val="FFFFFF"/>
                </a:solidFill>
                <a:latin typeface="Calibri"/>
              </a:rPr>
              <a:t>pero un sistema capaz de decirlo</a:t>
            </a:r>
          </a:p>
        </p:txBody>
      </p:sp>
      <p:sp>
        <p:nvSpPr>
          <p:cNvPr id="3" name="r3"/>
          <p:cNvSpPr/>
          <p:nvPr/>
        </p:nvSpPr>
        <p:spPr>
          <a:xfrm>
            <a:off x="1685800" y="3200000"/>
            <a:ext cx="8820400" cy="1300000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4"/>
          <p:cNvSpPr txBox="1"/>
          <p:nvPr/>
        </p:nvSpPr>
        <p:spPr>
          <a:xfrm>
            <a:off x="1985800" y="3400000"/>
            <a:ext cx="8220400" cy="9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800" b="1" dirty="0">
                <a:solidFill>
                  <a:srgbClr val="93C5FD"/>
                </a:solidFill>
                <a:latin typeface="Calibri"/>
              </a:rPr>
              <a:t>H1 INCONCLUYENTE   ·   H2 NO-GO   ·   hipótesis FALSADA</a:t>
            </a:r>
          </a:p>
          <a:p>
            <a:pPr algn="ctr">
              <a:lnSpc>
                <a:spcPct val="100000"/>
              </a:lnSpc>
            </a:pPr>
            <a:r>
              <a:rPr lang="es-ES" sz="1800" b="1" dirty="0">
                <a:solidFill>
                  <a:srgbClr val="93C5FD"/>
                </a:solidFill>
                <a:latin typeface="Calibri"/>
              </a:rPr>
              <a:t>La causa del deterioro sigue sin identificarse</a:t>
            </a:r>
          </a:p>
        </p:txBody>
      </p:sp>
      <p:sp>
        <p:nvSpPr>
          <p:cNvPr id="5" name="t5"/>
          <p:cNvSpPr txBox="1"/>
          <p:nvPr/>
        </p:nvSpPr>
        <p:spPr>
          <a:xfrm>
            <a:off x="685800" y="4900000"/>
            <a:ext cx="10820400" cy="45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500" dirty="0">
                <a:solidFill>
                  <a:srgbClr val="9CA3AF"/>
                </a:solidFill>
                <a:latin typeface="Calibri"/>
              </a:rPr>
              <a:t>github.com/ppblanco · informe completo en docs/PROJECT_STORY.md</a:t>
            </a:r>
          </a:p>
        </p:txBody>
      </p:sp>
      <p:sp>
        <p:nvSpPr>
          <p:cNvPr id="6" name="t6"/>
          <p:cNvSpPr txBox="1"/>
          <p:nvPr/>
        </p:nvSpPr>
        <p:spPr>
          <a:xfrm>
            <a:off x="685800" y="5450000"/>
            <a:ext cx="10820400" cy="400000"/>
          </a:xfrm>
          <a:prstGeom prst="rect">
            <a:avLst/>
          </a:prstGeom>
        </p:spPr>
        <p:txBody>
          <a:bodyPr wrap="square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s-ES" sz="1200" dirty="0">
                <a:solidFill>
                  <a:srgbClr val="6B7280"/>
                </a:solidFill>
                <a:latin typeface="Calibri"/>
              </a:rPr>
              <a:t>Based on moanv2/rlgym (MIT)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L">
  <a:themeElements>
    <a:clrScheme name="RL">
      <a:dk1>
        <a:srgbClr val="111827"/>
      </a:dk1>
      <a:lt1>
        <a:srgbClr val="FFFFFF"/>
      </a:lt1>
      <a:dk2>
        <a:srgbClr val="1F2937"/>
      </a:dk2>
      <a:lt2>
        <a:srgbClr val="F9FAFB"/>
      </a:lt2>
      <a:accent1>
        <a:srgbClr val="2563EB"/>
      </a:accent1>
      <a:accent2>
        <a:srgbClr val="7C3AED"/>
      </a:accent2>
      <a:accent3>
        <a:srgbClr val="16A34A"/>
      </a:accent3>
      <a:accent4>
        <a:srgbClr val="DC2626"/>
      </a:accent4>
      <a:accent5>
        <a:srgbClr val="F59E0B"/>
      </a:accent5>
      <a:accent6>
        <a:srgbClr val="10B981"/>
      </a:accent6>
      <a:hlink>
        <a:srgbClr val="2563EB"/>
      </a:hlink>
      <a:folHlink>
        <a:srgbClr val="7C3AED"/>
      </a:folHlink>
    </a:clrScheme>
    <a:fontScheme name="R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R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RL Notas">
  <a:themeElements>
    <a:clrScheme name="RL">
      <a:dk1>
        <a:srgbClr val="111827"/>
      </a:dk1>
      <a:lt1>
        <a:srgbClr val="FFFFFF"/>
      </a:lt1>
      <a:dk2>
        <a:srgbClr val="1F2937"/>
      </a:dk2>
      <a:lt2>
        <a:srgbClr val="F9FAFB"/>
      </a:lt2>
      <a:accent1>
        <a:srgbClr val="2563EB"/>
      </a:accent1>
      <a:accent2>
        <a:srgbClr val="7C3AED"/>
      </a:accent2>
      <a:accent3>
        <a:srgbClr val="16A34A"/>
      </a:accent3>
      <a:accent4>
        <a:srgbClr val="DC2626"/>
      </a:accent4>
      <a:accent5>
        <a:srgbClr val="F59E0B"/>
      </a:accent5>
      <a:accent6>
        <a:srgbClr val="10B981"/>
      </a:accent6>
      <a:hlink>
        <a:srgbClr val="2563EB"/>
      </a:hlink>
      <a:folHlink>
        <a:srgbClr val="7C3AED"/>
      </a:folHlink>
    </a:clrScheme>
    <a:fontScheme name="RL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R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Can self-play remember its past?</dc:title>
  <dc:creator>Pedro Pérez Blanco</dc:creator>
  <dc:description>Based on moanv2/rlgym (MIT)</dc:description>
</cp:coreProperties>
</file>